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obroyhobbs/projects/capgemini-proposal-generator/workspace/proposalai-deck/assets/bg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CAPGEMINI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</a:t>
            </a:r>
            <a:pPr algn="ctr" indent="0" marL="0">
              <a:buNone/>
            </a:pPr>
            <a:r>
              <a:rPr lang="en-US" sz="56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Proposal Generation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How Capgemini Wins Business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obroyhobbs/projects/capgemini-proposal-generator/workspace/proposalai-deck/assets/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Need Change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6" name="Image 1" descr="/Users/robroyhobbs/projects/capgemini-proposal-generator/workspace/proposalai-deck/assets/icon-cloc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6304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of Work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23774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Proposals take 2-4 weeks, delaying responses to opportunities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606040" y="128016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0" name="Image 2" descr="/Users/robroyhobbs/projects/capgemini-proposal-generator/workspace/proposalai-deck/assets/icon-chart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46304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60604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Quality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2606040" y="23774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varies by team, no standard approach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754880" y="128016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4" name="Image 3" descr="/Users/robroyhobbs/projects/capgemini-proposal-generator/workspace/proposalai-deck/assets/icon-layers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46304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5488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Silos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4754880" y="23774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scattered across organization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903720" y="128016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8" name="Image 4" descr="/Users/robroyhobbs/projects/capgemini-proposal-generator/workspace/proposalai-deck/assets/icon-target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46304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0372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Bottleneck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6903720" y="23774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resources tied up in manual work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obroyhobbs/projects/capgemini-proposal-generator/workspace/proposalai-deck/assets/bg-s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371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1645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ProposalAI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548640" y="237744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 proposal generation platform that leverages Capgemini's collective intelligence to create winning proposals in hours, not weeks.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0" y="1645920"/>
            <a:ext cx="3200400" cy="2011680"/>
          </a:xfrm>
          <a:prstGeom prst="roundRect">
            <a:avLst>
              <a:gd name="adj" fmla="val 6818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486400" y="19202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5486400" y="2834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Proposals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2AB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METHODOLOGY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Intent-Driven Development (IDD)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" cy="2286000"/>
          </a:xfrm>
          <a:prstGeom prst="rect">
            <a:avLst/>
          </a:prstGeom>
          <a:solidFill>
            <a:srgbClr val="0070AD"/>
          </a:solidFill>
          <a:ln/>
        </p:spPr>
      </p:sp>
      <p:sp>
        <p:nvSpPr>
          <p:cNvPr id="7" name="Shape 5"/>
          <p:cNvSpPr/>
          <p:nvPr/>
        </p:nvSpPr>
        <p:spPr>
          <a:xfrm>
            <a:off x="512064" y="1280160"/>
            <a:ext cx="2651760" cy="22860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17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Truth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Verified capabilities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4048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Certifications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75234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Case studies with metrics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0998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Methodology frameworks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280160"/>
            <a:ext cx="54864" cy="2286000"/>
          </a:xfrm>
          <a:prstGeom prst="rect">
            <a:avLst/>
          </a:prstGeom>
          <a:solidFill>
            <a:srgbClr val="12ABDB"/>
          </a:solidFill>
          <a:ln/>
        </p:spPr>
      </p:sp>
      <p:sp>
        <p:nvSpPr>
          <p:cNvPr id="15" name="Shape 13"/>
          <p:cNvSpPr/>
          <p:nvPr/>
        </p:nvSpPr>
        <p:spPr>
          <a:xfrm>
            <a:off x="3346704" y="1280160"/>
            <a:ext cx="2651760" cy="22860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417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Intent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7472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 outcomes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24048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Win strategy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275234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Constraints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30998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Competitive positioning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1280160"/>
            <a:ext cx="54864" cy="228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181344" y="1280160"/>
            <a:ext cx="2651760" cy="22860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1417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Content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0936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AI-created sections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24048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Human reviewed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275234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Source citations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30998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Version controlled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2ABDB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is traceable to verified sources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1376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We're Different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481328"/>
            <a:ext cx="594360" cy="594360"/>
          </a:xfrm>
          <a:prstGeom prst="ellipse">
            <a:avLst/>
          </a:prstGeom>
          <a:solidFill>
            <a:srgbClr val="12ABDB">
              <a:alpha val="10000"/>
            </a:srgbClr>
          </a:solidFill>
          <a:ln/>
        </p:spPr>
      </p:sp>
      <p:pic>
        <p:nvPicPr>
          <p:cNvPr id="7" name="Image 0" descr="/Users/robroyhobbs/projects/capgemini-proposal-generator/workspace/proposalai-deck/assets/icon-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591056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463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Methodologies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25880" y="1737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CCMF, ADMnext, and eAPM frameworks built into every proposal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28016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1481328"/>
            <a:ext cx="594360" cy="594360"/>
          </a:xfrm>
          <a:prstGeom prst="ellipse">
            <a:avLst/>
          </a:prstGeom>
          <a:solidFill>
            <a:srgbClr val="12ABDB">
              <a:alpha val="10000"/>
            </a:srgbClr>
          </a:solidFill>
          <a:ln/>
        </p:spPr>
      </p:sp>
      <p:pic>
        <p:nvPicPr>
          <p:cNvPr id="12" name="Image 1" descr="/Users/robroyhobbs/projects/capgemini-proposal-generator/workspace/proposalai-deck/assets/icon-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591056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1463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Case Studies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623560" y="1737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metrics: BMW 5,200+ apps, HMRC £245M savings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242316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4360" y="2624328"/>
            <a:ext cx="594360" cy="594360"/>
          </a:xfrm>
          <a:prstGeom prst="ellipse">
            <a:avLst/>
          </a:prstGeom>
          <a:solidFill>
            <a:srgbClr val="12ABDB">
              <a:alpha val="10000"/>
            </a:srgbClr>
          </a:solidFill>
          <a:ln/>
        </p:spPr>
      </p:sp>
      <p:pic>
        <p:nvPicPr>
          <p:cNvPr id="17" name="Image 2" descr="/Users/robroyhobbs/projects/capgemini-proposal-generator/workspace/proposalai-deck/assets/icon-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734056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Intent-First Approach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325880" y="2880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proposal aligned to client outcomes from the start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54880" y="242316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92040" y="2624328"/>
            <a:ext cx="594360" cy="594360"/>
          </a:xfrm>
          <a:prstGeom prst="ellipse">
            <a:avLst/>
          </a:prstGeom>
          <a:solidFill>
            <a:srgbClr val="12ABDB">
              <a:alpha val="10000"/>
            </a:srgbClr>
          </a:solidFill>
          <a:ln/>
        </p:spPr>
      </p:sp>
      <p:pic>
        <p:nvPicPr>
          <p:cNvPr id="22" name="Image 3" descr="/Users/robroyhobbs/projects/capgemini-proposal-generator/workspace/proposalai-deck/assets/icon-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2734056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2356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623560" y="2880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generates, experts review and refine for quality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57200" y="356616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94360" y="3767328"/>
            <a:ext cx="594360" cy="594360"/>
          </a:xfrm>
          <a:prstGeom prst="ellipse">
            <a:avLst/>
          </a:prstGeom>
          <a:solidFill>
            <a:srgbClr val="12ABDB">
              <a:alpha val="10000"/>
            </a:srgbClr>
          </a:solidFill>
          <a:ln/>
        </p:spPr>
      </p:sp>
      <p:pic>
        <p:nvPicPr>
          <p:cNvPr id="27" name="Image 4" descr="/Users/robroyhobbs/projects/capgemini-proposal-generator/workspace/proposalai-deck/assets/icon-z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3877056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25880" y="3749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Lifecycle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325880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generation—collaboration, versioning, and export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obroyhobbs/projects/capgemini-proposal-generator/workspace/proposalai-deck/assets/b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rgbClr val="12ABDB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Client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606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client details and opportunity context</a:t>
            </a:r>
            <a:endParaRPr lang="en-US" sz="900" dirty="0"/>
          </a:p>
        </p:txBody>
      </p:sp>
      <p:pic>
        <p:nvPicPr>
          <p:cNvPr id="9" name="Image 1" descr="/Users/robroyhobbs/projects/capgemini-proposal-generator/workspace/proposalai-deck/assets/icon-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69164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514600" y="1554480"/>
            <a:ext cx="548640" cy="548640"/>
          </a:xfrm>
          <a:prstGeom prst="ellipse">
            <a:avLst/>
          </a:prstGeom>
          <a:solidFill>
            <a:srgbClr val="12ABDB"/>
          </a:solidFill>
          <a:ln/>
        </p:spPr>
      </p:sp>
      <p:sp>
        <p:nvSpPr>
          <p:cNvPr id="11" name="Text 7"/>
          <p:cNvSpPr/>
          <p:nvPr/>
        </p:nvSpPr>
        <p:spPr>
          <a:xfrm>
            <a:off x="251460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2194560" y="2286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Outcomes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194560" y="2606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desired outcomes and win strategy</a:t>
            </a:r>
            <a:endParaRPr lang="en-US" sz="900" dirty="0"/>
          </a:p>
        </p:txBody>
      </p:sp>
      <p:pic>
        <p:nvPicPr>
          <p:cNvPr id="14" name="Image 2" descr="/Users/robroyhobbs/projects/capgemini-proposal-generator/workspace/proposalai-deck/assets/icon-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691640"/>
            <a:ext cx="274320" cy="2743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251960" y="1554480"/>
            <a:ext cx="548640" cy="548640"/>
          </a:xfrm>
          <a:prstGeom prst="ellipse">
            <a:avLst/>
          </a:prstGeom>
          <a:solidFill>
            <a:srgbClr val="12ABDB"/>
          </a:solidFill>
          <a:ln/>
        </p:spPr>
      </p:sp>
      <p:sp>
        <p:nvSpPr>
          <p:cNvPr id="16" name="Text 11"/>
          <p:cNvSpPr/>
          <p:nvPr/>
        </p:nvSpPr>
        <p:spPr>
          <a:xfrm>
            <a:off x="425196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3931920" y="2286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931920" y="2606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creates content with company context</a:t>
            </a:r>
            <a:endParaRPr lang="en-US" sz="900" dirty="0"/>
          </a:p>
        </p:txBody>
      </p:sp>
      <p:pic>
        <p:nvPicPr>
          <p:cNvPr id="19" name="Image 3" descr="/Users/robroyhobbs/projects/capgemini-proposal-generator/workspace/proposalai-deck/assets/icon-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691640"/>
            <a:ext cx="274320" cy="27432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989320" y="1554480"/>
            <a:ext cx="548640" cy="548640"/>
          </a:xfrm>
          <a:prstGeom prst="ellipse">
            <a:avLst/>
          </a:prstGeom>
          <a:solidFill>
            <a:srgbClr val="12ABDB"/>
          </a:solidFill>
          <a:ln/>
        </p:spPr>
      </p:sp>
      <p:sp>
        <p:nvSpPr>
          <p:cNvPr id="21" name="Text 15"/>
          <p:cNvSpPr/>
          <p:nvPr/>
        </p:nvSpPr>
        <p:spPr>
          <a:xfrm>
            <a:off x="598932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5669280" y="2286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669280" y="2606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and collaborate with team</a:t>
            </a:r>
            <a:endParaRPr lang="en-US" sz="900" dirty="0"/>
          </a:p>
        </p:txBody>
      </p:sp>
      <p:pic>
        <p:nvPicPr>
          <p:cNvPr id="24" name="Image 4" descr="/Users/robroyhobbs/projects/capgemini-proposal-generator/workspace/proposalai-deck/assets/icon-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691640"/>
            <a:ext cx="274320" cy="27432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7726680" y="1554480"/>
            <a:ext cx="548640" cy="548640"/>
          </a:xfrm>
          <a:prstGeom prst="ellipse">
            <a:avLst/>
          </a:prstGeom>
          <a:solidFill>
            <a:srgbClr val="12ABDB"/>
          </a:solidFill>
          <a:ln/>
        </p:spPr>
      </p:sp>
      <p:sp>
        <p:nvSpPr>
          <p:cNvPr id="26" name="Text 19"/>
          <p:cNvSpPr/>
          <p:nvPr/>
        </p:nvSpPr>
        <p:spPr>
          <a:xfrm>
            <a:off x="77266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7406640" y="2286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406640" y="2606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PPTX, DOCX, PDF, or web format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1376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011680" cy="265176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Users/robroyhobbs/projects/capgemini-proposal-generator/workspace/proposalai-deck/assets/icon-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5544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5720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108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weeks to hours for complete proposals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06040" y="1325880"/>
            <a:ext cx="2011680" cy="265176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/Users/robroyhobbs/projects/capgemini-proposal-generator/workspace/proposalai-deck/assets/icon-troph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5544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06040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15-25%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260604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Rate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697480" y="3108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targeting and methodology alignment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0" y="1325880"/>
            <a:ext cx="2011680" cy="265176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/Users/robroyhobbs/projects/capgemini-proposal-generator/workspace/proposalai-deck/assets/icon-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55448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18" name="Text 13"/>
          <p:cNvSpPr/>
          <p:nvPr/>
        </p:nvSpPr>
        <p:spPr>
          <a:xfrm>
            <a:off x="475488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846320" y="3108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proposal follows best practices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903720" y="1325880"/>
            <a:ext cx="2011680" cy="265176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pic>
        <p:nvPicPr>
          <p:cNvPr id="21" name="Image 3" descr="/Users/robroyhobbs/projects/capgemini-proposal-generator/workspace/proposalai-deck/assets/icon-sca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55448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0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3600" dirty="0"/>
          </a:p>
        </p:txBody>
      </p:sp>
      <p:sp>
        <p:nvSpPr>
          <p:cNvPr id="23" name="Text 17"/>
          <p:cNvSpPr/>
          <p:nvPr/>
        </p:nvSpPr>
        <p:spPr>
          <a:xfrm>
            <a:off x="6903720" y="2743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995160" y="3108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more opportunities with same team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2AB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Highlights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7" name="Image 0" descr="/Users/robroyhobbs/projects/capgemini-proposal-generator/workspace/proposalai-deck/assets/icon-chec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2801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Modern, intuitive user interface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87452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0" name="Image 1" descr="/Users/robroyhobbs/projects/capgemini-proposal-generator/workspace/proposalai-deck/assets/icon-chec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659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18745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proposal wizard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246888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3" name="Image 2" descr="/Users/robroyhobbs/projects/capgemini-proposal-generator/workspace/proposalai-deck/assets/icon-che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6032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24688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sections with citations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06324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6" name="Image 3" descr="/Users/robroyhobbs/projects/capgemini-proposal-generator/workspace/proposalai-deck/assets/icon-chec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51560" y="30632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history and collaboration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57200" y="365760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19" name="Image 4" descr="/Users/robroyhobbs/projects/capgemini-proposal-generator/workspace/proposalai-deck/assets/icon-check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74904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51560" y="36576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Multi-format export (PPTX, DOCX, PDF)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4846320" y="1280160"/>
            <a:ext cx="3840480" cy="3108960"/>
          </a:xfrm>
          <a:prstGeom prst="roundRect">
            <a:avLst>
              <a:gd name="adj" fmla="val 3529"/>
            </a:avLst>
          </a:prstGeom>
          <a:solidFill>
            <a:srgbClr val="000000">
              <a:alpha val="30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4846320" y="22860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Screenshot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41376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600200" cy="54864"/>
          </a:xfrm>
          <a:prstGeom prst="rect">
            <a:avLst/>
          </a:prstGeom>
          <a:solidFill>
            <a:srgbClr val="12ABD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35024"/>
            <a:ext cx="1600200" cy="25603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RFP Parsing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Auto-parse RFPs and map requirements to response sections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76272" y="1280160"/>
            <a:ext cx="1600200" cy="54864"/>
          </a:xfrm>
          <a:prstGeom prst="rect">
            <a:avLst/>
          </a:prstGeom>
          <a:solidFill>
            <a:srgbClr val="12ABDB"/>
          </a:solidFill>
          <a:ln/>
        </p:spPr>
      </p:sp>
      <p:sp>
        <p:nvSpPr>
          <p:cNvPr id="11" name="Shape 9"/>
          <p:cNvSpPr/>
          <p:nvPr/>
        </p:nvSpPr>
        <p:spPr>
          <a:xfrm>
            <a:off x="2176272" y="1335024"/>
            <a:ext cx="1600200" cy="25603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76272" y="14630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76272" y="17373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Intel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67712" y="214884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competitive intelligence for better positioning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95344" y="1280160"/>
            <a:ext cx="1600200" cy="54864"/>
          </a:xfrm>
          <a:prstGeom prst="rect">
            <a:avLst/>
          </a:prstGeom>
          <a:solidFill>
            <a:srgbClr val="12ABDB"/>
          </a:solidFill>
          <a:ln/>
        </p:spPr>
      </p:sp>
      <p:sp>
        <p:nvSpPr>
          <p:cNvPr id="16" name="Shape 14"/>
          <p:cNvSpPr/>
          <p:nvPr/>
        </p:nvSpPr>
        <p:spPr>
          <a:xfrm>
            <a:off x="3895344" y="1335024"/>
            <a:ext cx="1600200" cy="25603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95344" y="14630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95344" y="17373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Win/Loss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86784" y="214884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from outcomes to improve future proposals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14416" y="1280160"/>
            <a:ext cx="1600200" cy="54864"/>
          </a:xfrm>
          <a:prstGeom prst="rect">
            <a:avLst/>
          </a:prstGeom>
          <a:solidFill>
            <a:srgbClr val="12ABDB"/>
          </a:solidFill>
          <a:ln/>
        </p:spPr>
      </p:sp>
      <p:sp>
        <p:nvSpPr>
          <p:cNvPr id="21" name="Shape 19"/>
          <p:cNvSpPr/>
          <p:nvPr/>
        </p:nvSpPr>
        <p:spPr>
          <a:xfrm>
            <a:off x="5614416" y="1335024"/>
            <a:ext cx="1600200" cy="25603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14416" y="14630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14416" y="17373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Training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05856" y="214884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Client-specific tone and messaging customization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33488" y="1280160"/>
            <a:ext cx="1600200" cy="54864"/>
          </a:xfrm>
          <a:prstGeom prst="rect">
            <a:avLst/>
          </a:prstGeom>
          <a:solidFill>
            <a:srgbClr val="12ABDB"/>
          </a:solidFill>
          <a:ln/>
        </p:spPr>
      </p:sp>
      <p:sp>
        <p:nvSpPr>
          <p:cNvPr id="26" name="Shape 24"/>
          <p:cNvSpPr/>
          <p:nvPr/>
        </p:nvSpPr>
        <p:spPr>
          <a:xfrm>
            <a:off x="7333488" y="1335024"/>
            <a:ext cx="1600200" cy="25603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33488" y="14630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A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33488" y="17373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Integration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24928" y="214884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connection with Salesforce and pipelines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obroyhobbs/projects/capgemini-proposal-generator/workspace/proposalai-deck/assets/bg-c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Users/robroyhobbs/projects/capgemini-proposal-generator/workspace/proposalai-deck/assets/icon-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097280"/>
            <a:ext cx="731520" cy="731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Transform Your Proposals?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future of intelligent proposal generation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2286000" y="329184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2286000" y="3291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Program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3931920" y="329184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3931920" y="3291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577840" y="329184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5577840" y="3291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proposalai@capgemini.com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ProposalAI - Intelligent Proposal Generation</dc:title>
  <dc:subject>PptxGenJS Presentation</dc:subject>
  <dc:creator>Capgemini</dc:creator>
  <cp:lastModifiedBy>Capgemini</cp:lastModifiedBy>
  <cp:revision>1</cp:revision>
  <dcterms:created xsi:type="dcterms:W3CDTF">2026-01-29T20:49:20Z</dcterms:created>
  <dcterms:modified xsi:type="dcterms:W3CDTF">2026-01-29T20:49:20Z</dcterms:modified>
</cp:coreProperties>
</file>