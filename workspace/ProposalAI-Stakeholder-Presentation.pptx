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2AB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0"/>
            <a:ext cx="9144000" cy="548640"/>
          </a:xfrm>
          <a:prstGeom prst="rect">
            <a:avLst/>
          </a:prstGeom>
          <a:solidFill>
            <a:srgbClr val="0070AD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65D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ProposalAI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2ABDB"/>
                </a:solidFill>
              </a:rPr>
              <a:t>Intelligent Proposal Generation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Transforming How Capgemini Wins Business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Capgemini Internal | Stakeholder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73152" cy="365760"/>
          </a:xfrm>
          <a:prstGeom prst="rect">
            <a:avLst/>
          </a:prstGeom>
          <a:solidFill>
            <a:srgbClr val="12ABD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Challenge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365D"/>
                </a:solidFill>
              </a:rPr>
              <a:t>Our current proposal process creates bottlenecks and inconsistencies: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5176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63040"/>
            <a:ext cx="45720" cy="914400"/>
          </a:xfrm>
          <a:prstGeom prst="rect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544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0AD"/>
                </a:solidFill>
              </a:rPr>
              <a:t>TIME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65D"/>
                </a:solidFill>
              </a:rPr>
              <a:t>Proposals take weeks to complete, missing opportunities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463040"/>
            <a:ext cx="265176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463040"/>
            <a:ext cx="45720" cy="914400"/>
          </a:xfrm>
          <a:prstGeom prst="rect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5544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0AD"/>
                </a:solidFill>
              </a:rPr>
              <a:t>QUALITY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4720" y="17830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65D"/>
                </a:solidFill>
              </a:rPr>
              <a:t>Inconsistent output quality across teams and regions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463040"/>
            <a:ext cx="265176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463040"/>
            <a:ext cx="45720" cy="914400"/>
          </a:xfrm>
          <a:prstGeom prst="rect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5544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0AD"/>
                </a:solidFill>
              </a:rPr>
              <a:t>KNOWLEDGE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63640" y="17830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65D"/>
                </a:solidFill>
              </a:rPr>
              <a:t>Best practices and case studies scattered across silos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514600"/>
            <a:ext cx="265176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514600"/>
            <a:ext cx="45720" cy="914400"/>
          </a:xfrm>
          <a:prstGeom prst="rect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6060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0AD"/>
                </a:solidFill>
              </a:rPr>
              <a:t>RESOURCES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28346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65D"/>
                </a:solidFill>
              </a:rPr>
              <a:t>Senior experts bottlenecked on repetitive writing tasks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37560" y="2514600"/>
            <a:ext cx="265176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37560" y="2514600"/>
            <a:ext cx="45720" cy="914400"/>
          </a:xfrm>
          <a:prstGeom prst="rect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26060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0AD"/>
                </a:solidFill>
              </a:rPr>
              <a:t>REUSE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0" y="28346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65D"/>
                </a:solidFill>
              </a:rPr>
              <a:t>Winning strategies rarely captured or replicated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2514600"/>
            <a:ext cx="265176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0" y="2514600"/>
            <a:ext cx="45720" cy="914400"/>
          </a:xfrm>
          <a:prstGeom prst="rect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26060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0AD"/>
                </a:solidFill>
              </a:rPr>
              <a:t>SCALE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63640" y="28346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65D"/>
                </a:solidFill>
              </a:rPr>
              <a:t>Cannot pursue more opportunities with current capacity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83680" y="3657600"/>
            <a:ext cx="2286000" cy="1097280"/>
          </a:xfrm>
          <a:prstGeom prst="roundRect">
            <a:avLst>
              <a:gd name="adj" fmla="val 4167"/>
            </a:avLst>
          </a:prstGeom>
          <a:solidFill>
            <a:srgbClr val="12ABDB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3794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4-6 weeks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583680" y="4297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Average proposal cycle time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73152" cy="365760"/>
          </a:xfrm>
          <a:prstGeom prst="rect">
            <a:avLst/>
          </a:prstGeom>
          <a:solidFill>
            <a:srgbClr val="12ABD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Introducing ProposalAI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0AD"/>
                </a:solidFill>
              </a:rPr>
              <a:t>AI-Powered Proposal Generation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65D"/>
                </a:solidFill>
              </a:rPr>
              <a:t>ProposalAI is an intelligent platform that leverages Capgemini's collective knowledge to generate winning proposals in hours, not weeks.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65D"/>
                </a:solidFill>
              </a:rPr>
              <a:t>It combines our methodologies, case studies, and institutional expertise with advanced AI to create consistent, high-quality proposals at scale.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4572000" cy="914400"/>
          </a:xfrm>
          <a:prstGeom prst="roundRect">
            <a:avLst>
              <a:gd name="adj" fmla="val 5000"/>
            </a:avLst>
          </a:prstGeom>
          <a:solidFill>
            <a:srgbClr val="0070A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246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Hours, Not Weeks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3611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From initial brief to complete proposal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0" y="1005840"/>
            <a:ext cx="3383280" cy="777240"/>
          </a:xfrm>
          <a:prstGeom prst="roundRect">
            <a:avLst>
              <a:gd name="adj" fmla="val 3529"/>
            </a:avLst>
          </a:prstGeom>
          <a:solidFill>
            <a:srgbClr val="F5F7FA"/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10972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0AD"/>
                </a:solidFill>
              </a:rPr>
              <a:t>Embedded Expertise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1371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65D"/>
                </a:solidFill>
              </a:rPr>
              <a:t>Built-in Capgemini methodologies, frameworks, and best practices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0" y="1874520"/>
            <a:ext cx="3383280" cy="777240"/>
          </a:xfrm>
          <a:prstGeom prst="roundRect">
            <a:avLst>
              <a:gd name="adj" fmla="val 3529"/>
            </a:avLst>
          </a:prstGeom>
          <a:solidFill>
            <a:srgbClr val="F5F7FA"/>
          </a:solidFill>
          <a:ln/>
        </p:spPr>
      </p:sp>
      <p:sp>
        <p:nvSpPr>
          <p:cNvPr id="14" name="Text 12"/>
          <p:cNvSpPr/>
          <p:nvPr/>
        </p:nvSpPr>
        <p:spPr>
          <a:xfrm>
            <a:off x="5623560" y="19659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0AD"/>
                </a:solidFill>
              </a:rPr>
              <a:t>Verified Content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23560" y="2240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65D"/>
                </a:solidFill>
              </a:rPr>
              <a:t>Real case studies with verified metrics and outcomes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0" y="2743200"/>
            <a:ext cx="3383280" cy="777240"/>
          </a:xfrm>
          <a:prstGeom prst="roundRect">
            <a:avLst>
              <a:gd name="adj" fmla="val 3529"/>
            </a:avLst>
          </a:prstGeom>
          <a:solidFill>
            <a:srgbClr val="F5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5623560" y="2834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0AD"/>
                </a:solidFill>
              </a:rPr>
              <a:t>Intent-Driven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23560" y="3108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65D"/>
                </a:solidFill>
              </a:rPr>
              <a:t>Every proposal aligned to client outcomes and win strategy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0" y="3611880"/>
            <a:ext cx="3383280" cy="777240"/>
          </a:xfrm>
          <a:prstGeom prst="roundRect">
            <a:avLst>
              <a:gd name="adj" fmla="val 3529"/>
            </a:avLst>
          </a:prstGeom>
          <a:solidFill>
            <a:srgbClr val="F5F7FA"/>
          </a:solidFill>
          <a:ln/>
        </p:spPr>
      </p:sp>
      <p:sp>
        <p:nvSpPr>
          <p:cNvPr id="20" name="Text 18"/>
          <p:cNvSpPr/>
          <p:nvPr/>
        </p:nvSpPr>
        <p:spPr>
          <a:xfrm>
            <a:off x="5623560" y="37033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0AD"/>
                </a:solidFill>
              </a:rPr>
              <a:t>Human Quality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23560" y="3977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65D"/>
                </a:solidFill>
              </a:rPr>
              <a:t>AI generates, humans review and refine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73152" cy="365760"/>
          </a:xfrm>
          <a:prstGeom prst="rect">
            <a:avLst/>
          </a:prstGeom>
          <a:solidFill>
            <a:srgbClr val="12ABD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Intent-Driven Development (IDD)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0AD"/>
                </a:solidFill>
              </a:rPr>
              <a:t>A 3-Layer Context Model for Trustworthy AI Generation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743200" cy="2103120"/>
          </a:xfrm>
          <a:prstGeom prst="roundRect">
            <a:avLst>
              <a:gd name="adj" fmla="val 2174"/>
            </a:avLst>
          </a:prstGeom>
          <a:solidFill>
            <a:srgbClr val="1B365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Company Truth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Verified capabilities, certifications, case studies, and methodologies. The canonical source of what we can claim.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29000" y="1463040"/>
            <a:ext cx="2743200" cy="2103120"/>
          </a:xfrm>
          <a:prstGeom prst="roundRect">
            <a:avLst>
              <a:gd name="adj" fmla="val 2174"/>
            </a:avLst>
          </a:prstGeom>
          <a:solidFill>
            <a:srgbClr val="0070AD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554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2900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Proposal Intent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228600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Client outcomes, win strategy, constraints, and success metrics. Human-defined goals that guide generation.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09360" y="1463040"/>
            <a:ext cx="2743200" cy="2103120"/>
          </a:xfrm>
          <a:prstGeom prst="roundRect">
            <a:avLst>
              <a:gd name="adj" fmla="val 2174"/>
            </a:avLst>
          </a:prstGeom>
          <a:solidFill>
            <a:srgbClr val="12ABDB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554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0936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Generated Content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46520" y="228600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AI-created proposal sections, reviewed and refined by humans. Every claim traceable to L1 sources.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840480"/>
            <a:ext cx="795528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840480"/>
            <a:ext cx="45720" cy="731520"/>
          </a:xfrm>
          <a:prstGeom prst="rect">
            <a:avLst/>
          </a:prstGeom>
          <a:solidFill>
            <a:srgbClr val="12ABDB"/>
          </a:solidFill>
          <a:ln w="12700">
            <a:solidFill>
              <a:srgbClr val="12AB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9319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0AD"/>
                </a:solidFill>
              </a:rPr>
              <a:t>KEY DIFFERENTIATOR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4160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65D"/>
                </a:solidFill>
              </a:rPr>
              <a:t>Every claim in every proposal is traceable to verified company sources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73152" cy="365760"/>
          </a:xfrm>
          <a:prstGeom prst="rect">
            <a:avLst/>
          </a:prstGeom>
          <a:solidFill>
            <a:srgbClr val="12ABD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Why We're Different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2743200" cy="1143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05840"/>
            <a:ext cx="2743200" cy="45720"/>
          </a:xfrm>
          <a:prstGeom prst="rect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43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65D"/>
                </a:solidFill>
              </a:rPr>
              <a:t>Embedded Methodologies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65D"/>
                </a:solidFill>
              </a:rPr>
              <a:t>Built-in CCMF, ADMnext, and eAPM frameworks ensure consistent, proven approaches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29000" y="1005840"/>
            <a:ext cx="2743200" cy="1143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1005840"/>
            <a:ext cx="2743200" cy="45720"/>
          </a:xfrm>
          <a:prstGeom prst="rect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143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65D"/>
                </a:solidFill>
              </a:rPr>
              <a:t>Verified Case Studies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14630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65D"/>
                </a:solidFill>
              </a:rPr>
              <a:t>Real examples with metrics: BMW 5,200+ apps, HMRC £245M contract, aerospace migrations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1005840"/>
            <a:ext cx="2743200" cy="1143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005840"/>
            <a:ext cx="2743200" cy="45720"/>
          </a:xfrm>
          <a:prstGeom prst="rect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143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65D"/>
                </a:solidFill>
              </a:rPr>
              <a:t>Intent-First Approach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46520" y="14630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65D"/>
                </a:solidFill>
              </a:rPr>
              <a:t>Start with client outcomes and win strategy - every section aligned to what matters most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286000"/>
            <a:ext cx="2743200" cy="1143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286000"/>
            <a:ext cx="2743200" cy="45720"/>
          </a:xfrm>
          <a:prstGeom prst="rect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423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65D"/>
                </a:solidFill>
              </a:rPr>
              <a:t>Human-in-the-Loop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27432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65D"/>
                </a:solidFill>
              </a:rPr>
              <a:t>AI accelerates, humans validate. Quality control at every stage of the process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29000" y="2286000"/>
            <a:ext cx="2743200" cy="1143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29000" y="2286000"/>
            <a:ext cx="2743200" cy="45720"/>
          </a:xfrm>
          <a:prstGeom prst="rect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0" y="2423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65D"/>
                </a:solidFill>
              </a:rPr>
              <a:t>Full Lifecycle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66160" y="27432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65D"/>
                </a:solidFill>
              </a:rPr>
              <a:t>Not just generation - review, collaboration, versioning, and multi-format export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09360" y="2286000"/>
            <a:ext cx="2743200" cy="1143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2286000"/>
            <a:ext cx="2743200" cy="45720"/>
          </a:xfrm>
          <a:prstGeom prst="rect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2423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65D"/>
                </a:solidFill>
              </a:rPr>
              <a:t>Traceable Claims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46520" y="27432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65D"/>
                </a:solidFill>
              </a:rPr>
              <a:t>Every claim links back to verified sources. No hallucinations, no unsupported statements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B365D"/>
                </a:solidFill>
              </a:rPr>
              <a:t>This isn't generic AI - it's Capgemini's institutional knowledge, made accessible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73152" cy="365760"/>
          </a:xfrm>
          <a:prstGeom prst="rect">
            <a:avLst/>
          </a:prstGeom>
          <a:solidFill>
            <a:srgbClr val="12ABD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How It Works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1188720"/>
            <a:ext cx="640080" cy="640080"/>
          </a:xfrm>
          <a:prstGeom prst="ellipse">
            <a:avLst/>
          </a:prstGeom>
          <a:solidFill>
            <a:srgbClr val="0070A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801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65D"/>
                </a:solidFill>
              </a:rPr>
              <a:t>Define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Enter client details, industry, and opportunity type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057400" y="12801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2ABDB"/>
                </a:solidFill>
              </a:rPr>
              <a:t>&gt;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697480" y="1188720"/>
            <a:ext cx="640080" cy="640080"/>
          </a:xfrm>
          <a:prstGeom prst="ellipse">
            <a:avLst/>
          </a:prstGeom>
          <a:solidFill>
            <a:srgbClr val="0070AD"/>
          </a:solidFill>
          <a:ln/>
        </p:spPr>
      </p:sp>
      <p:sp>
        <p:nvSpPr>
          <p:cNvPr id="10" name="Text 8"/>
          <p:cNvSpPr/>
          <p:nvPr/>
        </p:nvSpPr>
        <p:spPr>
          <a:xfrm>
            <a:off x="2697480" y="12801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40280" y="19202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65D"/>
                </a:solidFill>
              </a:rPr>
              <a:t>Outcomes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40280" y="22402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Set desired outcomes, win strategy, and constraints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0" y="12801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2ABDB"/>
                </a:solidFill>
              </a:rPr>
              <a:t>&gt;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480560" y="1188720"/>
            <a:ext cx="640080" cy="640080"/>
          </a:xfrm>
          <a:prstGeom prst="ellipse">
            <a:avLst/>
          </a:prstGeom>
          <a:solidFill>
            <a:srgbClr val="0070AD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0" y="12801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023360" y="19202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65D"/>
                </a:solidFill>
              </a:rPr>
              <a:t>Generate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23360" y="22402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AI creates sections using company context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623560" y="12801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2ABDB"/>
                </a:solidFill>
              </a:rPr>
              <a:t>&gt;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263640" y="1188720"/>
            <a:ext cx="640080" cy="640080"/>
          </a:xfrm>
          <a:prstGeom prst="ellipse">
            <a:avLst/>
          </a:prstGeom>
          <a:solidFill>
            <a:srgbClr val="0070AD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12801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806440" y="19202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65D"/>
                </a:solidFill>
              </a:rPr>
              <a:t>Review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06440" y="22402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Refine content, collaborate with team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406640" y="12801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2ABDB"/>
                </a:solidFill>
              </a:rPr>
              <a:t>&gt;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046720" y="1188720"/>
            <a:ext cx="640080" cy="640080"/>
          </a:xfrm>
          <a:prstGeom prst="ellipse">
            <a:avLst/>
          </a:prstGeom>
          <a:solidFill>
            <a:srgbClr val="0070AD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0" y="12801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589520" y="19202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65D"/>
                </a:solidFill>
              </a:rPr>
              <a:t>Export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589520" y="22402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Download in your preferred format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371600" y="3291840"/>
            <a:ext cx="2560320" cy="822960"/>
          </a:xfrm>
          <a:prstGeom prst="roundRect">
            <a:avLst>
              <a:gd name="adj" fmla="val 3333"/>
            </a:avLst>
          </a:prstGeom>
          <a:solidFill>
            <a:srgbClr val="F5F7FA"/>
          </a:solidFill>
          <a:ln/>
        </p:spPr>
      </p:sp>
      <p:sp>
        <p:nvSpPr>
          <p:cNvPr id="29" name="Text 27"/>
          <p:cNvSpPr/>
          <p:nvPr/>
        </p:nvSpPr>
        <p:spPr>
          <a:xfrm>
            <a:off x="1371600" y="3383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0AD"/>
                </a:solidFill>
              </a:rPr>
              <a:t>EXPORT FORMATS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371600" y="3657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365D"/>
                </a:solidFill>
              </a:rPr>
              <a:t>PPTX, DOCX, PDF, Web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297680" y="3291840"/>
            <a:ext cx="4114800" cy="822960"/>
          </a:xfrm>
          <a:prstGeom prst="roundRect">
            <a:avLst>
              <a:gd name="adj" fmla="val 3333"/>
            </a:avLst>
          </a:prstGeom>
          <a:solidFill>
            <a:srgbClr val="F5F7FA"/>
          </a:solidFill>
          <a:ln/>
        </p:spPr>
      </p:sp>
      <p:sp>
        <p:nvSpPr>
          <p:cNvPr id="32" name="Text 30"/>
          <p:cNvSpPr/>
          <p:nvPr/>
        </p:nvSpPr>
        <p:spPr>
          <a:xfrm>
            <a:off x="4297680" y="3383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0AD"/>
                </a:solidFill>
              </a:rPr>
              <a:t>SECTIONS GENERATED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389120" y="36576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365D"/>
                </a:solidFill>
              </a:rPr>
              <a:t>Executive Summary, Approach, Methodology, Team, Case Studies, Timeline, Pricing, Risk, Why Capgemini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73152" cy="365760"/>
          </a:xfrm>
          <a:prstGeom prst="rect">
            <a:avLst/>
          </a:prstGeom>
          <a:solidFill>
            <a:srgbClr val="12ABD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Key Benefits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0" cy="2286000"/>
          </a:xfrm>
          <a:prstGeom prst="roundRect">
            <a:avLst>
              <a:gd name="adj" fmla="val 1667"/>
            </a:avLst>
          </a:prstGeom>
          <a:solidFill>
            <a:srgbClr val="E8F4F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1645920" cy="54864"/>
          </a:xfrm>
          <a:prstGeom prst="rect">
            <a:avLst/>
          </a:prstGeom>
          <a:solidFill>
            <a:srgbClr val="12ABD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2ABDB"/>
                </a:solidFill>
              </a:rPr>
              <a:t>90%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65D"/>
                </a:solidFill>
              </a:rPr>
              <a:t>Faster Delivery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From weeks to hours. First draft ready in minutes, polished proposal in hours.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94560" y="1005840"/>
            <a:ext cx="1645920" cy="2286000"/>
          </a:xfrm>
          <a:prstGeom prst="roundRect">
            <a:avLst>
              <a:gd name="adj" fmla="val 1667"/>
            </a:avLst>
          </a:prstGeom>
          <a:solidFill>
            <a:srgbClr val="F5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1005840"/>
            <a:ext cx="1645920" cy="54864"/>
          </a:xfrm>
          <a:prstGeom prst="rect">
            <a:avLst/>
          </a:prstGeom>
          <a:solidFill>
            <a:srgbClr val="0070AD"/>
          </a:solidFill>
          <a:ln/>
        </p:spPr>
      </p:sp>
      <p:sp>
        <p:nvSpPr>
          <p:cNvPr id="11" name="Text 9"/>
          <p:cNvSpPr/>
          <p:nvPr/>
        </p:nvSpPr>
        <p:spPr>
          <a:xfrm>
            <a:off x="2194560" y="12801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70AD"/>
                </a:solidFill>
              </a:rPr>
              <a:t>15-25%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194560" y="1828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65D"/>
                </a:solidFill>
              </a:rPr>
              <a:t>Win Rate Potential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0" y="22860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Better targeting, consistent quality, and methodology-aligned content.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931920" y="1005840"/>
            <a:ext cx="1645920" cy="2286000"/>
          </a:xfrm>
          <a:prstGeom prst="roundRect">
            <a:avLst>
              <a:gd name="adj" fmla="val 1667"/>
            </a:avLst>
          </a:prstGeom>
          <a:solidFill>
            <a:srgbClr val="F5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3931920" y="1005840"/>
            <a:ext cx="1645920" cy="54864"/>
          </a:xfrm>
          <a:prstGeom prst="rect">
            <a:avLst/>
          </a:prstGeom>
          <a:solidFill>
            <a:srgbClr val="0070AD"/>
          </a:solidFill>
          <a:ln/>
        </p:spPr>
      </p:sp>
      <p:sp>
        <p:nvSpPr>
          <p:cNvPr id="16" name="Text 14"/>
          <p:cNvSpPr/>
          <p:nvPr/>
        </p:nvSpPr>
        <p:spPr>
          <a:xfrm>
            <a:off x="3931920" y="12801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70AD"/>
                </a:solidFill>
              </a:rPr>
              <a:t>100%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931920" y="1828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65D"/>
                </a:solidFill>
              </a:rPr>
              <a:t>Consistent Quality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023360" y="22860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Every proposal follows best practices and brand standards.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669280" y="1005840"/>
            <a:ext cx="1645920" cy="2286000"/>
          </a:xfrm>
          <a:prstGeom prst="roundRect">
            <a:avLst>
              <a:gd name="adj" fmla="val 1667"/>
            </a:avLst>
          </a:prstGeom>
          <a:solidFill>
            <a:srgbClr val="F5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0" y="1005840"/>
            <a:ext cx="1645920" cy="54864"/>
          </a:xfrm>
          <a:prstGeom prst="rect">
            <a:avLst/>
          </a:prstGeom>
          <a:solidFill>
            <a:srgbClr val="0070AD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0" y="12801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70AD"/>
                </a:solidFill>
              </a:rPr>
              <a:t>3x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5669280" y="1828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65D"/>
                </a:solidFill>
              </a:rPr>
              <a:t>More Opportunities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60720" y="22860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Same team capacity can pursue significantly more deals.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406640" y="1005840"/>
            <a:ext cx="1645920" cy="2286000"/>
          </a:xfrm>
          <a:prstGeom prst="roundRect">
            <a:avLst>
              <a:gd name="adj" fmla="val 1667"/>
            </a:avLst>
          </a:prstGeom>
          <a:solidFill>
            <a:srgbClr val="F5F7FA"/>
          </a:solidFill>
          <a:ln/>
        </p:spPr>
      </p:sp>
      <p:sp>
        <p:nvSpPr>
          <p:cNvPr id="25" name="Shape 23"/>
          <p:cNvSpPr/>
          <p:nvPr/>
        </p:nvSpPr>
        <p:spPr>
          <a:xfrm>
            <a:off x="7406640" y="1005840"/>
            <a:ext cx="1645920" cy="54864"/>
          </a:xfrm>
          <a:prstGeom prst="rect">
            <a:avLst/>
          </a:prstGeom>
          <a:solidFill>
            <a:srgbClr val="0070AD"/>
          </a:solidFill>
          <a:ln/>
        </p:spPr>
      </p:sp>
      <p:sp>
        <p:nvSpPr>
          <p:cNvPr id="26" name="Text 24"/>
          <p:cNvSpPr/>
          <p:nvPr/>
        </p:nvSpPr>
        <p:spPr>
          <a:xfrm>
            <a:off x="7406640" y="12801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70AD"/>
                </a:solidFill>
              </a:rPr>
              <a:t>1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7406640" y="1828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65D"/>
                </a:solidFill>
              </a:rPr>
              <a:t>Knowledge Source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98080" y="22860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Capture and reuse institutional expertise across the organization.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73152" cy="365760"/>
          </a:xfrm>
          <a:prstGeom prst="rect">
            <a:avLst/>
          </a:prstGeom>
          <a:solidFill>
            <a:srgbClr val="12ABD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Platform Features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0AD"/>
                </a:solidFill>
              </a:rPr>
              <a:t>Core Capabilities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65D"/>
                </a:solidFill>
              </a:rPr>
              <a:t>•  Step-by-step proposal creation wizard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7190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65D"/>
                </a:solidFill>
              </a:rPr>
              <a:t>•  AI-generated sections with source citations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06654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65D"/>
                </a:solidFill>
              </a:rPr>
              <a:t>•  Outcome contract definition with success metrics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41401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65D"/>
                </a:solidFill>
              </a:rPr>
              <a:t>•  Win strategy analysis and positioning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7614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65D"/>
                </a:solidFill>
              </a:rPr>
              <a:t>•  Version history and change tracking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108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65D"/>
                </a:solidFill>
              </a:rPr>
              <a:t>•  Team collaboration and comments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4564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65D"/>
                </a:solidFill>
              </a:rPr>
              <a:t>•  Multi-format export (PPTX, DOCX, PDF)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80390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65D"/>
                </a:solidFill>
              </a:rPr>
              <a:t>•  Knowledge base with RAG search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100584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1B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1188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Modern User Experience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120640" y="1645920"/>
            <a:ext cx="3566160" cy="640080"/>
          </a:xfrm>
          <a:prstGeom prst="roundRect">
            <a:avLst>
              <a:gd name="adj" fmla="val 4286"/>
            </a:avLst>
          </a:prstGeom>
          <a:solidFill>
            <a:srgbClr val="2A4A72"/>
          </a:solidFill>
          <a:ln/>
        </p:spPr>
      </p:sp>
      <p:sp>
        <p:nvSpPr>
          <p:cNvPr id="16" name="Text 14"/>
          <p:cNvSpPr/>
          <p:nvPr/>
        </p:nvSpPr>
        <p:spPr>
          <a:xfrm>
            <a:off x="5257800" y="17373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ABDB"/>
                </a:solidFill>
              </a:rPr>
              <a:t>Warm, Human Design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57800" y="1965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Clean, approachable interface that guides users through the process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120640" y="2377440"/>
            <a:ext cx="3566160" cy="640080"/>
          </a:xfrm>
          <a:prstGeom prst="roundRect">
            <a:avLst>
              <a:gd name="adj" fmla="val 4286"/>
            </a:avLst>
          </a:prstGeom>
          <a:solidFill>
            <a:srgbClr val="2A4A72"/>
          </a:solidFill>
          <a:ln/>
        </p:spPr>
      </p:sp>
      <p:sp>
        <p:nvSpPr>
          <p:cNvPr id="19" name="Text 17"/>
          <p:cNvSpPr/>
          <p:nvPr/>
        </p:nvSpPr>
        <p:spPr>
          <a:xfrm>
            <a:off x="5257800" y="24688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ABDB"/>
                </a:solidFill>
              </a:rPr>
              <a:t>Real-Time Generation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57800" y="2697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Watch AI create content with live progress updates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120640" y="3108960"/>
            <a:ext cx="3566160" cy="640080"/>
          </a:xfrm>
          <a:prstGeom prst="roundRect">
            <a:avLst>
              <a:gd name="adj" fmla="val 4286"/>
            </a:avLst>
          </a:prstGeom>
          <a:solidFill>
            <a:srgbClr val="2A4A72"/>
          </a:solidFill>
          <a:ln/>
        </p:spPr>
      </p:sp>
      <p:sp>
        <p:nvSpPr>
          <p:cNvPr id="22" name="Text 20"/>
          <p:cNvSpPr/>
          <p:nvPr/>
        </p:nvSpPr>
        <p:spPr>
          <a:xfrm>
            <a:off x="5257800" y="320040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ABDB"/>
                </a:solidFill>
              </a:rPr>
              <a:t>Inline Editing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57800" y="34290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Edit, refine, and perfect content directly in the interface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120640" y="3840480"/>
            <a:ext cx="3566160" cy="640080"/>
          </a:xfrm>
          <a:prstGeom prst="roundRect">
            <a:avLst>
              <a:gd name="adj" fmla="val 4286"/>
            </a:avLst>
          </a:prstGeom>
          <a:solidFill>
            <a:srgbClr val="2A4A72"/>
          </a:solidFill>
          <a:ln/>
        </p:spPr>
      </p:sp>
      <p:sp>
        <p:nvSpPr>
          <p:cNvPr id="25" name="Text 23"/>
          <p:cNvSpPr/>
          <p:nvPr/>
        </p:nvSpPr>
        <p:spPr>
          <a:xfrm>
            <a:off x="5257800" y="39319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ABDB"/>
                </a:solidFill>
              </a:rPr>
              <a:t>Source Transparency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57800" y="4160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See exactly which company sources informed each section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73152" cy="365760"/>
          </a:xfrm>
          <a:prstGeom prst="rect">
            <a:avLst/>
          </a:prstGeom>
          <a:solidFill>
            <a:srgbClr val="12ABD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Future Roadmap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691640" cy="822960"/>
          </a:xfrm>
          <a:prstGeom prst="rect">
            <a:avLst/>
          </a:prstGeom>
          <a:solidFill>
            <a:srgbClr val="12ABDB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5156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PHASE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12801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Foundation NOW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828800"/>
            <a:ext cx="1691640" cy="2286000"/>
          </a:xfrm>
          <a:prstGeom prst="rect">
            <a:avLst/>
          </a:prstGeom>
          <a:solidFill>
            <a:srgbClr val="E8F4FC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92024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65D"/>
                </a:solidFill>
              </a:rPr>
              <a:t>• Core proposal generation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237744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65D"/>
                </a:solidFill>
              </a:rPr>
              <a:t>• IDD methodology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83464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65D"/>
                </a:solidFill>
              </a:rPr>
              <a:t>• Knowledge base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329184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65D"/>
                </a:solidFill>
              </a:rPr>
              <a:t>• Multi-format export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03120" y="1005840"/>
            <a:ext cx="1691640" cy="822960"/>
          </a:xfrm>
          <a:prstGeom prst="rect">
            <a:avLst/>
          </a:prstGeom>
          <a:solidFill>
            <a:srgbClr val="0070AD"/>
          </a:solidFill>
          <a:ln/>
        </p:spPr>
      </p:sp>
      <p:sp>
        <p:nvSpPr>
          <p:cNvPr id="13" name="Text 11"/>
          <p:cNvSpPr/>
          <p:nvPr/>
        </p:nvSpPr>
        <p:spPr>
          <a:xfrm>
            <a:off x="2103120" y="105156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PHASE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03120" y="12801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RFP Intelligence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103120" y="1828800"/>
            <a:ext cx="1691640" cy="22860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6" name="Text 14"/>
          <p:cNvSpPr/>
          <p:nvPr/>
        </p:nvSpPr>
        <p:spPr>
          <a:xfrm>
            <a:off x="2194560" y="192024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65D"/>
                </a:solidFill>
              </a:rPr>
              <a:t>• RFP document parsing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194560" y="237744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65D"/>
                </a:solidFill>
              </a:rPr>
              <a:t>• Auto-response mapping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94560" y="283464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65D"/>
                </a:solidFill>
              </a:rPr>
              <a:t>• Requirement extraction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94560" y="329184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65D"/>
                </a:solidFill>
              </a:rPr>
              <a:t>• Compliance checking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886200" y="1005840"/>
            <a:ext cx="1691640" cy="822960"/>
          </a:xfrm>
          <a:prstGeom prst="rect">
            <a:avLst/>
          </a:prstGeom>
          <a:solidFill>
            <a:srgbClr val="0070AD"/>
          </a:solidFill>
          <a:ln/>
        </p:spPr>
      </p:sp>
      <p:sp>
        <p:nvSpPr>
          <p:cNvPr id="21" name="Text 19"/>
          <p:cNvSpPr/>
          <p:nvPr/>
        </p:nvSpPr>
        <p:spPr>
          <a:xfrm>
            <a:off x="3886200" y="105156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PHASE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86200" y="12801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Competitive Intel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886200" y="1828800"/>
            <a:ext cx="1691640" cy="22860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4" name="Text 22"/>
          <p:cNvSpPr/>
          <p:nvPr/>
        </p:nvSpPr>
        <p:spPr>
          <a:xfrm>
            <a:off x="3977640" y="192024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65D"/>
                </a:solidFill>
              </a:rPr>
              <a:t>• Competitor analysis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977640" y="237744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65D"/>
                </a:solidFill>
              </a:rPr>
              <a:t>• Differentiation suggestions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977640" y="283464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65D"/>
                </a:solidFill>
              </a:rPr>
              <a:t>• Market positioning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977640" y="329184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65D"/>
                </a:solidFill>
              </a:rPr>
              <a:t>• Win theme optimization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669280" y="1005840"/>
            <a:ext cx="1691640" cy="822960"/>
          </a:xfrm>
          <a:prstGeom prst="rect">
            <a:avLst/>
          </a:prstGeom>
          <a:solidFill>
            <a:srgbClr val="0070AD"/>
          </a:solidFill>
          <a:ln/>
        </p:spPr>
      </p:sp>
      <p:sp>
        <p:nvSpPr>
          <p:cNvPr id="29" name="Text 27"/>
          <p:cNvSpPr/>
          <p:nvPr/>
        </p:nvSpPr>
        <p:spPr>
          <a:xfrm>
            <a:off x="5669280" y="105156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PHASE 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669280" y="12801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Learning Loop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69280" y="1828800"/>
            <a:ext cx="1691640" cy="22860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2" name="Text 30"/>
          <p:cNvSpPr/>
          <p:nvPr/>
        </p:nvSpPr>
        <p:spPr>
          <a:xfrm>
            <a:off x="5760720" y="192024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65D"/>
                </a:solidFill>
              </a:rPr>
              <a:t>• Win/loss analysis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760720" y="237744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65D"/>
                </a:solidFill>
              </a:rPr>
              <a:t>• Feedback integration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760720" y="283464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65D"/>
                </a:solidFill>
              </a:rPr>
              <a:t>• Continuous improvement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760720" y="329184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65D"/>
                </a:solidFill>
              </a:rPr>
              <a:t>• Success pattern mining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452360" y="1005840"/>
            <a:ext cx="1691640" cy="822960"/>
          </a:xfrm>
          <a:prstGeom prst="rect">
            <a:avLst/>
          </a:prstGeom>
          <a:solidFill>
            <a:srgbClr val="0070AD"/>
          </a:solidFill>
          <a:ln/>
        </p:spPr>
      </p:sp>
      <p:sp>
        <p:nvSpPr>
          <p:cNvPr id="37" name="Text 35"/>
          <p:cNvSpPr/>
          <p:nvPr/>
        </p:nvSpPr>
        <p:spPr>
          <a:xfrm>
            <a:off x="7452360" y="105156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PHASE 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452360" y="12801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Voice &amp; CRM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452360" y="1828800"/>
            <a:ext cx="1691640" cy="22860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0" name="Text 38"/>
          <p:cNvSpPr/>
          <p:nvPr/>
        </p:nvSpPr>
        <p:spPr>
          <a:xfrm>
            <a:off x="7543800" y="192024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65D"/>
                </a:solidFill>
              </a:rPr>
              <a:t>• Client-specific voice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543800" y="237744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65D"/>
                </a:solidFill>
              </a:rPr>
              <a:t>• Salesforce integration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543800" y="283464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65D"/>
                </a:solidFill>
              </a:rPr>
              <a:t>• Pipeline automation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543800" y="329184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65D"/>
                </a:solidFill>
              </a:rPr>
              <a:t>• Opportunity scoring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Ready to Transform Your Proposal Process?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2ABDB"/>
                </a:solidFill>
              </a:rPr>
              <a:t>Join the pilot program and experience the future of proposal generation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371600" y="2194560"/>
            <a:ext cx="2103120" cy="1371600"/>
          </a:xfrm>
          <a:prstGeom prst="roundRect">
            <a:avLst>
              <a:gd name="adj" fmla="val 3333"/>
            </a:avLst>
          </a:prstGeom>
          <a:solidFill>
            <a:srgbClr val="2A4A72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2194560"/>
            <a:ext cx="2103120" cy="36576"/>
          </a:xfrm>
          <a:prstGeom prst="rect">
            <a:avLst/>
          </a:prstGeom>
          <a:solidFill>
            <a:srgbClr val="12ABDB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2331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ABDB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26974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Pilot Program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2971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Select teams to test with real opportunities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749040" y="2194560"/>
            <a:ext cx="2103120" cy="1371600"/>
          </a:xfrm>
          <a:prstGeom prst="roundRect">
            <a:avLst>
              <a:gd name="adj" fmla="val 3333"/>
            </a:avLst>
          </a:prstGeom>
          <a:solidFill>
            <a:srgbClr val="2A4A72"/>
          </a:solidFill>
          <a:ln/>
        </p:spPr>
      </p:sp>
      <p:sp>
        <p:nvSpPr>
          <p:cNvPr id="10" name="Shape 8"/>
          <p:cNvSpPr/>
          <p:nvPr/>
        </p:nvSpPr>
        <p:spPr>
          <a:xfrm>
            <a:off x="3749040" y="2194560"/>
            <a:ext cx="2103120" cy="36576"/>
          </a:xfrm>
          <a:prstGeom prst="rect">
            <a:avLst/>
          </a:prstGeom>
          <a:solidFill>
            <a:srgbClr val="12ABDB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2331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ABDB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749040" y="26974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Training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40480" y="2971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Onboard users and configure knowledge base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2194560"/>
            <a:ext cx="2103120" cy="1371600"/>
          </a:xfrm>
          <a:prstGeom prst="roundRect">
            <a:avLst>
              <a:gd name="adj" fmla="val 3333"/>
            </a:avLst>
          </a:prstGeom>
          <a:solidFill>
            <a:srgbClr val="2A4A72"/>
          </a:solidFill>
          <a:ln/>
        </p:spPr>
      </p:sp>
      <p:sp>
        <p:nvSpPr>
          <p:cNvPr id="15" name="Shape 13"/>
          <p:cNvSpPr/>
          <p:nvPr/>
        </p:nvSpPr>
        <p:spPr>
          <a:xfrm>
            <a:off x="6126480" y="2194560"/>
            <a:ext cx="2103120" cy="36576"/>
          </a:xfrm>
          <a:prstGeom prst="rect">
            <a:avLst/>
          </a:prstGeom>
          <a:solidFill>
            <a:srgbClr val="12ABDB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2331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ABDB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126480" y="26974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Rollout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2971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Scale to broader organization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37947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FOR MORE INFORMATION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ABDB"/>
                </a:solidFill>
              </a:rPr>
              <a:t>Contact the ProposalAI Team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ProposalAI | Intelligent Proposal Generation | Capgemini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Capgemini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ProposalAI: Intelligent Proposal Generation</dc:title>
  <dc:subject>Stakeholder Presentation</dc:subject>
  <dc:creator>Capgemini</dc:creator>
  <cp:lastModifiedBy>Capgemini</cp:lastModifiedBy>
  <cp:revision>1</cp:revision>
  <dcterms:created xsi:type="dcterms:W3CDTF">2026-01-28T20:28:33Z</dcterms:created>
  <dcterms:modified xsi:type="dcterms:W3CDTF">2026-01-28T20:28:33Z</dcterms:modified>
</cp:coreProperties>
</file>